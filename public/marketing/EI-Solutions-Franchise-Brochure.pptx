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4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437"/>
                </a:solidFill>
                <a:latin typeface="Calibri"/>
              </a:rPr>
              <a:t>Monthly Revenue Trend (INR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(₹k)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4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31</c:v>
                </c:pt>
                <c:pt idx="2">
                  <c:v>38</c:v>
                </c:pt>
                <c:pt idx="3">
                  <c:v>47</c:v>
                </c:pt>
                <c:pt idx="4">
                  <c:v>54</c:v>
                </c:pt>
                <c:pt idx="5">
                  <c:v>63</c:v>
                </c:pt>
                <c:pt idx="6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4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4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6350" cap="flat">
          <a:solidFill>
            <a:srgbClr val="E2D6A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323015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944807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1323015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11944807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2888" y="1005840"/>
            <a:ext cx="1645920" cy="164592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82616" y="1115568"/>
            <a:ext cx="1426464" cy="1426464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92344" y="1225296"/>
            <a:ext cx="1207008" cy="1207008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02072" y="1335024"/>
            <a:ext cx="987552" cy="987552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1800" y="1444752"/>
            <a:ext cx="768096" cy="768096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821528" y="1554480"/>
            <a:ext cx="548640" cy="548640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547208" y="1280160"/>
            <a:ext cx="1097280" cy="1097280"/>
          </a:xfrm>
          <a:prstGeom prst="ellipse">
            <a:avLst/>
          </a:prstGeom>
          <a:ln w="1905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55768" y="1188720"/>
            <a:ext cx="1280160" cy="1280160"/>
          </a:xfrm>
          <a:prstGeom prst="ellipse">
            <a:avLst/>
          </a:prstGeom>
          <a:ln w="635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7208" y="13716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0" y="29260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 ·  EST. 2024  ·  OPC PRIVATE LIMITED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E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Janasevana Kendram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272888" y="4709160"/>
            <a:ext cx="164592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00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No.1 Multi-Service Franchise Business Platform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1600" y="5394960"/>
            <a:ext cx="2966618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5486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371600" y="59436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PARTNERS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2538" y="5394960"/>
            <a:ext cx="2966618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2538" y="5486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12538" y="59436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53477" y="5394960"/>
            <a:ext cx="2966618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53477" y="548640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853477" y="59436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REACHED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 ·  SECURE  ·  DIGITAL INDIA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is a registered digital business platform empowering retailers, distributors and franchise partners across India to earn daily income through hundreds of essential public services — delivered through a single, beautifully crafted dashboard.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PAN cards and AEPS banking to post-office services, government applications, insurance, loans and travel — your one shop runs the entire neighbourhood economy. The software handles the complexity. You handle your customer.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FOR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5501488" cy="1005840"/>
          </a:xfrm>
          <a:prstGeom prst="roundRect">
            <a:avLst>
              <a:gd name="adj" fmla="val 9091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64008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2900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All India.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22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for over 120 income-generating services.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3337560"/>
            <a:ext cx="5501488" cy="1005840"/>
          </a:xfrm>
          <a:prstGeom prst="roundRect">
            <a:avLst>
              <a:gd name="adj" fmla="val 9091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3008" y="3337560"/>
            <a:ext cx="64008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61608" y="342900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Wallet.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1608" y="3794760"/>
            <a:ext cx="522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transactions. Auto-credited commissions. Zero leaks.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5501488" cy="1005840"/>
          </a:xfrm>
          <a:prstGeom prst="roundRect">
            <a:avLst>
              <a:gd name="adj" fmla="val 9091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26280"/>
            <a:ext cx="64008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1772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Retailers.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522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Mobile-friendly, multilingual, designed for shop counters.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3008" y="4526280"/>
            <a:ext cx="5501488" cy="1005840"/>
          </a:xfrm>
          <a:prstGeom prst="roundRect">
            <a:avLst>
              <a:gd name="adj" fmla="val 9091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3008" y="4526280"/>
            <a:ext cx="64008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61608" y="4617720"/>
            <a:ext cx="522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Infrastructure.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1608" y="4983480"/>
            <a:ext cx="522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security and Government-grade reliability.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71500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070C2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532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1097280" y="58521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just sell software. We hand you a complete digital service business — ready to open tomorrow.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EI SOLUTIONS LEADERSHIP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  ·  SERVICES  ·  PART 1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Services. One Dashboard.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Office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Registered Post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&amp; Tracking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Order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 · Sukanya Samriddhi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/ FD · Postal Banking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IPPB Account Opening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Insurance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2498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4475378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537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69738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1098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· Water · Gas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· Landline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Postpaid · Credit Card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 Recharge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7797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7797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0677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0677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05037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6397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Prepaid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DTH Recharge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Card Services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PAN (NSDL / UTI)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Correction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Reprint PAN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ePAN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2498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2498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Shape 30"/>
          <p:cNvSpPr/>
          <p:nvPr/>
        </p:nvSpPr>
        <p:spPr>
          <a:xfrm>
            <a:off x="4475378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5378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🪪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69738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Services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1098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Support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e-Aadhaar Download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&amp; Verification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27797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27797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8" name="Shape 36"/>
          <p:cNvSpPr/>
          <p:nvPr/>
        </p:nvSpPr>
        <p:spPr>
          <a:xfrm>
            <a:off x="8310677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10677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905037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(AEPS)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56397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Pay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 (DMT)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Withdrawal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Statement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Micro ATM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  ·  SERVICES  ·  PART 2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Counter in India.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e-Gov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Certificates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Scheme Apply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2498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2498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4475378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537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69738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1098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Life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· Travel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Quotes &amp; Issue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7797" y="132588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7797" y="132588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0677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0677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905037" y="160020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Services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6397" y="219456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· Business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Vehicle Loan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Finance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· Train · Bus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PNR &amp; Status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2498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2498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2" name="Shape 30"/>
          <p:cNvSpPr/>
          <p:nvPr/>
        </p:nvSpPr>
        <p:spPr>
          <a:xfrm>
            <a:off x="4475378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75378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69738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1098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India · NSDC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Training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Courses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27797" y="3977640"/>
            <a:ext cx="3606698" cy="2468880"/>
          </a:xfrm>
          <a:prstGeom prst="roundRect">
            <a:avLst>
              <a:gd name="adj" fmla="val 3704"/>
            </a:avLst>
          </a:prstGeom>
          <a:solidFill>
            <a:srgbClr val="FAF7EE"/>
          </a:solidFill>
          <a:ln w="6350">
            <a:solidFill>
              <a:srgbClr val="E2D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27797" y="3977640"/>
            <a:ext cx="3606698" cy="6400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8" name="Shape 36"/>
          <p:cNvSpPr/>
          <p:nvPr/>
        </p:nvSpPr>
        <p:spPr>
          <a:xfrm>
            <a:off x="8310677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1437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10677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905037" y="4251960"/>
            <a:ext cx="2692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Software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56397" y="4846320"/>
            <a:ext cx="314949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· Distributor Panels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Commission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· User Mgmt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Management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323015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944807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1323015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11944807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Take an EI SOLUTIONS Franchise?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57200" y="1234440"/>
            <a:ext cx="10058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69164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182880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19456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Income Sources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3674" y="169164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083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110914" y="182880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Earnings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0914" y="219456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every transaction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0148" y="169164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730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87388" y="182880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Investment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87388" y="219456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lean, scale fast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86621" y="169164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3781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863861" y="182880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63861" y="219456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 everyone needs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234440" y="310896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Software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347472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non-technical operators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33674" y="297180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0834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110914" y="310896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Brand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110914" y="347472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2500+ network partners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0148" y="297180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7308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987388" y="310896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Support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87388" y="347472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Training · 24×7 help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86621" y="2971800"/>
            <a:ext cx="2647874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23781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863861" y="3108960"/>
            <a:ext cx="177919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863861" y="3474720"/>
            <a:ext cx="17791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adding new services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Earning Potential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monthly income for an active service centre, blended across categories. Real numbers depend on footfall, location and activation; the platform is designed to compound.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11094415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02920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502920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" y="510235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Recharge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539496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· daily walk-ins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77258" y="502920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13" name="Shape 10"/>
          <p:cNvSpPr/>
          <p:nvPr/>
        </p:nvSpPr>
        <p:spPr>
          <a:xfrm>
            <a:off x="4277258" y="502920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1"/>
          <p:cNvSpPr/>
          <p:nvPr/>
        </p:nvSpPr>
        <p:spPr>
          <a:xfrm>
            <a:off x="4441850" y="510235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Services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41850" y="539496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per-transaction margin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97317" y="502920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17" name="Shape 14"/>
          <p:cNvSpPr/>
          <p:nvPr/>
        </p:nvSpPr>
        <p:spPr>
          <a:xfrm>
            <a:off x="8097317" y="502920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5"/>
          <p:cNvSpPr/>
          <p:nvPr/>
        </p:nvSpPr>
        <p:spPr>
          <a:xfrm>
            <a:off x="8261909" y="510235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AEPS Banking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61909" y="539496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Stickiest customer category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89788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89788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19"/>
          <p:cNvSpPr/>
          <p:nvPr/>
        </p:nvSpPr>
        <p:spPr>
          <a:xfrm>
            <a:off x="621792" y="597103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1792" y="626364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renewal trail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77258" y="589788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25" name="Shape 22"/>
          <p:cNvSpPr/>
          <p:nvPr/>
        </p:nvSpPr>
        <p:spPr>
          <a:xfrm>
            <a:off x="4277258" y="589788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4441850" y="597103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Office Services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441850" y="626364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Trust-led traffic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097317" y="5897880"/>
            <a:ext cx="3637178" cy="731520"/>
          </a:xfrm>
          <a:prstGeom prst="roundRect">
            <a:avLst>
              <a:gd name="adj" fmla="val 10000"/>
            </a:avLst>
          </a:prstGeom>
          <a:solidFill>
            <a:srgbClr val="FAF7EE"/>
          </a:solidFill>
          <a:ln/>
        </p:spPr>
      </p:sp>
      <p:sp>
        <p:nvSpPr>
          <p:cNvPr id="29" name="Shape 26"/>
          <p:cNvSpPr/>
          <p:nvPr/>
        </p:nvSpPr>
        <p:spPr>
          <a:xfrm>
            <a:off x="8097317" y="5897880"/>
            <a:ext cx="4572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7"/>
          <p:cNvSpPr/>
          <p:nvPr/>
        </p:nvSpPr>
        <p:spPr>
          <a:xfrm>
            <a:off x="8261909" y="5971032"/>
            <a:ext cx="34085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Apply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261909" y="6263640"/>
            <a:ext cx="3408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earning spikes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323015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944807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1323015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11944807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Models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57200" y="1143000"/>
            <a:ext cx="10058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417320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76895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earnings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075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3042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Multi-retailer cluster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6895" y="2167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+ activation income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642616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7340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Partner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29169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district rights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6895" y="2779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revenue share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55264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467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33009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Partner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3529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ownership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6895" y="3392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+ onboarding income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67912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59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584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Franchise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41422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empire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76895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equity-style returns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SOFTWARE FEELS DIFFERENT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535381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25780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 · Multiple Services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92498" y="516636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29658" y="535381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6" name="Text 44"/>
          <p:cNvSpPr/>
          <p:nvPr/>
        </p:nvSpPr>
        <p:spPr>
          <a:xfrm>
            <a:off x="4658258" y="525780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Processing · Real-time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127797" y="516636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64957" y="535381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9" name="Text 47"/>
          <p:cNvSpPr/>
          <p:nvPr/>
        </p:nvSpPr>
        <p:spPr>
          <a:xfrm>
            <a:off x="8493557" y="525780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Encrypted Wallet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580644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59938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589788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Auto-Credit Commission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92498" y="580644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29658" y="59938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5" name="Text 53"/>
          <p:cNvSpPr/>
          <p:nvPr/>
        </p:nvSpPr>
        <p:spPr>
          <a:xfrm>
            <a:off x="4658258" y="589788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Reports &amp; Insights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127797" y="5806440"/>
            <a:ext cx="3606698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64957" y="59938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8" name="Text 56"/>
          <p:cNvSpPr/>
          <p:nvPr/>
        </p:nvSpPr>
        <p:spPr>
          <a:xfrm>
            <a:off x="8493557" y="5897880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UI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Get In Touch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73552" cy="457200"/>
          </a:xfrm>
          <a:prstGeom prst="roundRect">
            <a:avLst>
              <a:gd name="adj" fmla="val 50000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274320" cy="274320"/>
          </a:xfrm>
          <a:prstGeom prst="ellipse">
            <a:avLst/>
          </a:prstGeom>
          <a:solidFill>
            <a:srgbClr val="0B1437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67912" y="13716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9352" y="1463040"/>
            <a:ext cx="274320" cy="274320"/>
          </a:xfrm>
          <a:prstGeom prst="ellipse">
            <a:avLst/>
          </a:prstGeom>
          <a:solidFill>
            <a:srgbClr val="0B1437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9392" y="146304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0256" y="137160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11696" y="1463040"/>
            <a:ext cx="274320" cy="274320"/>
          </a:xfrm>
          <a:prstGeom prst="ellipse">
            <a:avLst/>
          </a:prstGeom>
          <a:solidFill>
            <a:srgbClr val="0B1437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1463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31736" y="146304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 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2024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B1437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01168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Brand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4136" y="192024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AF7E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65576" y="2011680"/>
            <a:ext cx="274320" cy="274320"/>
          </a:xfrm>
          <a:prstGeom prst="ellipse">
            <a:avLst/>
          </a:prstGeom>
          <a:solidFill>
            <a:srgbClr val="0B1437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85616" y="201168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Ready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11277295" cy="3017520"/>
          </a:xfrm>
          <a:prstGeom prst="roundRect">
            <a:avLst>
              <a:gd name="adj" fmla="val 4545"/>
            </a:avLst>
          </a:prstGeom>
          <a:solidFill>
            <a:srgbClr val="070C2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468880"/>
            <a:ext cx="11277295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US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2880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PLATFORM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772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franchise begins with one phone call.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52049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023360"/>
            <a:ext cx="490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0160" y="42062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8078991386 · 8921479506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33008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52049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5928" y="4023360"/>
            <a:ext cx="490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35928" y="420624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eisolutionswork@gmail.com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4663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52049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4663440"/>
            <a:ext cx="490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80160" y="484632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www.eisolutions.biz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46634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52049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35928" y="4663440"/>
            <a:ext cx="490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35928" y="4846320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Pvt Ltd · Kerala, India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5669280"/>
            <a:ext cx="11277295" cy="777240"/>
          </a:xfrm>
          <a:prstGeom prst="roundRect">
            <a:avLst>
              <a:gd name="adj" fmla="val 14118"/>
            </a:avLst>
          </a:prstGeom>
          <a:solidFill>
            <a:srgbClr val="D4AF37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715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0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Today.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own multi-service digital franchise.  ·  Earn daily income with India's most trusted retailer software.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635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  ·  Franchise Prospectus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323015" y="228600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944807" y="22860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1323015" y="6611112"/>
            <a:ext cx="64008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Shape 9"/>
          <p:cNvSpPr/>
          <p:nvPr/>
        </p:nvSpPr>
        <p:spPr>
          <a:xfrm>
            <a:off x="11944807" y="5989320"/>
            <a:ext cx="13716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15688" y="1645920"/>
            <a:ext cx="2560320" cy="256032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52848" y="1783080"/>
            <a:ext cx="2286000" cy="228600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90008" y="1920240"/>
            <a:ext cx="2011680" cy="201168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27168" y="2057400"/>
            <a:ext cx="1737360" cy="173736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364328" y="2194560"/>
            <a:ext cx="1463040" cy="146304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01488" y="2331720"/>
            <a:ext cx="1188720" cy="118872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75808" y="2606040"/>
            <a:ext cx="640080" cy="640080"/>
          </a:xfrm>
          <a:prstGeom prst="ellipse">
            <a:avLst/>
          </a:prstGeom>
          <a:solidFill>
            <a:srgbClr val="D4AF37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18608" y="2148840"/>
            <a:ext cx="1554480" cy="1554480"/>
          </a:xfrm>
          <a:prstGeom prst="ellipse">
            <a:avLst/>
          </a:prstGeom>
          <a:ln w="2286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81448" y="2011680"/>
            <a:ext cx="1828800" cy="1828800"/>
          </a:xfrm>
          <a:prstGeom prst="ellipse">
            <a:avLst/>
          </a:prstGeom>
          <a:ln w="762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8608" y="228600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SOLUTIONS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E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No.1 Multi-Service Franchise Platform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98568" y="5166360"/>
            <a:ext cx="2194560" cy="0"/>
          </a:xfrm>
          <a:prstGeom prst="line">
            <a:avLst/>
          </a:prstGeom>
          <a:noFill/>
          <a:ln w="1016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5257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8078991386  ·  8921479506  ·  eisolutionswork@gmail.com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55321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www.eisolutions.biz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EI SOLUTIONS JANASEVANA KENDRAM (OPC) PVT. LTD.  · 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EI SOLUTIONS Janasevana Kendram (OPC)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SOLUTIONS — Franchise Brochure</dc:title>
  <dc:subject>PptxGenJS Presentation</dc:subject>
  <dc:creator>PptxGenJS</dc:creator>
  <cp:lastModifiedBy>PptxGenJS</cp:lastModifiedBy>
  <cp:revision>1</cp:revision>
  <dcterms:created xsi:type="dcterms:W3CDTF">2026-04-22T09:14:06Z</dcterms:created>
  <dcterms:modified xsi:type="dcterms:W3CDTF">2026-04-22T09:14:06Z</dcterms:modified>
</cp:coreProperties>
</file>