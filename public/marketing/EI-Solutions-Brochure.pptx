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Growth</c:v>
                </c:pt>
              </c:strCache>
            </c:strRef>
          </c:tx>
          <c:spPr>
            <a:solidFill>
              <a:srgbClr val="D4AF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40</c:v>
                </c:pt>
                <c:pt idx="2">
                  <c:v>55</c:v>
                </c:pt>
                <c:pt idx="3">
                  <c:v>70</c:v>
                </c:pt>
                <c:pt idx="4">
                  <c:v>82</c:v>
                </c:pt>
                <c:pt idx="5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F4D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5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4D"/>
          </a:solidFill>
          <a:ln/>
        </p:spPr>
      </p:sp>
      <p:sp>
        <p:nvSpPr>
          <p:cNvPr id="3" name="Text 1"/>
          <p:cNvSpPr/>
          <p:nvPr/>
        </p:nvSpPr>
        <p:spPr>
          <a:xfrm>
            <a:off x="5413248" y="146304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5413248" y="1371600"/>
            <a:ext cx="1371600" cy="1371600"/>
          </a:xfrm>
          <a:prstGeom prst="ellipse">
            <a:avLst/>
          </a:prstGeom>
          <a:ln w="3175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301752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9C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LIMITED   |   EST. 2018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30175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E9C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LIMITED   |   EST. 2018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338328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SOLUTIONS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0" y="42062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E9C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JANASEVANA KENDRAM (OPC) PRIVATE LIMITED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32704" y="4617720"/>
            <a:ext cx="91440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548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Smart Digital Service &amp; Business Automation Platform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71600" y="566928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061539">
              <a:alpha val="70000"/>
            </a:srgbClr>
          </a:solidFill>
          <a:ln w="6350">
            <a:solidFill>
              <a:srgbClr val="E9C7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5715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371600" y="61996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NETWORK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566928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061539">
              <a:alpha val="70000"/>
            </a:srgbClr>
          </a:solidFill>
          <a:ln w="6350">
            <a:solidFill>
              <a:srgbClr val="E9C7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5715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72000" y="61996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SERVICES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0" y="566928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061539">
              <a:alpha val="70000"/>
            </a:srgbClr>
          </a:solidFill>
          <a:ln w="6350">
            <a:solidFill>
              <a:srgbClr val="E9C7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5715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772400" y="61996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TRUST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B1F4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9C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COMPANY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Powering India's Digital Service Economy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09728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11247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SOLUTIONS JANASEVANA KENDRAM (OPC) PRIVATE LIMITED is a registered Indian technology company building one of the country's most comprehensive digital service &amp; business automation platforms. From a single login, our partners deliver 50+ government, banking, finance, education and lifestyle services to citizens across India.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combine enterprise-grade technology with grassroots reach - empowering retailers, distributors and franchise partners to run a profitable, modern digital service center under a trusted national brand.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931920"/>
            <a:ext cx="73152" cy="13716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069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Company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 Pvt Ltd, MSME and GST registered.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393192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3931920"/>
            <a:ext cx="73152" cy="13716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4069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Govt-aligned Services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44348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PAN, Aadhaar, BBPS, AEPS &amp; e-Governance.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93192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3931920"/>
            <a:ext cx="73152" cy="13716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4069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Multi-service Platform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44348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services in one wallet, one dashboard.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98280" y="393192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8280" y="3931920"/>
            <a:ext cx="73152" cy="13716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4069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 Thousands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81160" y="44348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2500+ centers transacting daily across India.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532120"/>
            <a:ext cx="11247120" cy="1097280"/>
          </a:xfrm>
          <a:prstGeom prst="roundRect">
            <a:avLst>
              <a:gd name="adj" fmla="val 8333"/>
            </a:avLst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5532120"/>
            <a:ext cx="73152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6235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C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every Indian neighborhood a smart digital service hub.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31520" y="62636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Technology, training and trust - so partners can serve citizens better and grow.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B1F4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9C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Service.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09728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3657600" cy="73152"/>
          </a:xfrm>
          <a:prstGeom prst="rect">
            <a:avLst/>
          </a:prstGeom>
          <a:solidFill>
            <a:srgbClr val="1E5DFF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830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E5DFF"/>
          </a:solidFill>
          <a:ln w="12700">
            <a:solidFill>
              <a:srgbClr val="1E5D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Card Services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25880" y="2331720"/>
            <a:ext cx="36576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6888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 PAN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Correction PAN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Reprint / e-PAN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PAN (Aadhaar)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51960" y="155448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1554480"/>
            <a:ext cx="3657600" cy="73152"/>
          </a:xfrm>
          <a:prstGeom prst="rect">
            <a:avLst/>
          </a:prstGeom>
          <a:solidFill>
            <a:srgbClr val="0CA678"/>
          </a:solidFill>
          <a:ln/>
        </p:spPr>
      </p:sp>
      <p:sp>
        <p:nvSpPr>
          <p:cNvPr id="15" name="Shape 13"/>
          <p:cNvSpPr/>
          <p:nvPr/>
        </p:nvSpPr>
        <p:spPr>
          <a:xfrm>
            <a:off x="4434840" y="17830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12064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Payment &amp; Recharge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120640" y="2331720"/>
            <a:ext cx="36576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9" name="Text 17"/>
          <p:cNvSpPr/>
          <p:nvPr/>
        </p:nvSpPr>
        <p:spPr>
          <a:xfrm>
            <a:off x="4434840" y="246888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Electricity, Water, Gas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 &amp; DTH recharge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Fastag recharge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BBPS billers (200+)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155448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0" y="1554480"/>
            <a:ext cx="3657600" cy="73152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0" y="17830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91540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Services (AEPS)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915400" y="2331720"/>
            <a:ext cx="36576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246888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AEPS Cash Withdrawal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Money Transfer (DMT)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 Statement &amp; Balance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Micro-ATM ready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11480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14800"/>
            <a:ext cx="3657600" cy="73152"/>
          </a:xfrm>
          <a:prstGeom prst="rect">
            <a:avLst/>
          </a:prstGeom>
          <a:solidFill>
            <a:srgbClr val="1862AB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" y="434340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862AB"/>
          </a:solidFill>
          <a:ln w="12700">
            <a:solidFill>
              <a:srgbClr val="1862A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389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325880" y="4389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 E-Gov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325880" y="4892040"/>
            <a:ext cx="36576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50292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Aadhaar services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Ayushman Bharat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26+ certificates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E-governance applications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51960" y="411480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51960" y="4114800"/>
            <a:ext cx="3657600" cy="73152"/>
          </a:xfrm>
          <a:prstGeom prst="rect">
            <a:avLst/>
          </a:prstGeom>
          <a:solidFill>
            <a:srgbClr val="C9472D"/>
          </a:solidFill>
          <a:ln/>
        </p:spPr>
      </p:sp>
      <p:sp>
        <p:nvSpPr>
          <p:cNvPr id="36" name="Shape 34"/>
          <p:cNvSpPr/>
          <p:nvPr/>
        </p:nvSpPr>
        <p:spPr>
          <a:xfrm>
            <a:off x="4434840" y="434340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C9472D"/>
          </a:solidFill>
          <a:ln w="12700">
            <a:solidFill>
              <a:srgbClr val="C947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34840" y="4389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120640" y="4389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Services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120640" y="4892040"/>
            <a:ext cx="36576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0" name="Text 38"/>
          <p:cNvSpPr/>
          <p:nvPr/>
        </p:nvSpPr>
        <p:spPr>
          <a:xfrm>
            <a:off x="4434840" y="50292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Personal &amp; Business loans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Gold loan referrals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Vehicle loans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eligibility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046720" y="411480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46720" y="4114800"/>
            <a:ext cx="3657600" cy="73152"/>
          </a:xfrm>
          <a:prstGeom prst="rect">
            <a:avLst/>
          </a:prstGeom>
          <a:solidFill>
            <a:srgbClr val="E07A00"/>
          </a:solidFill>
          <a:ln/>
        </p:spPr>
      </p:sp>
      <p:sp>
        <p:nvSpPr>
          <p:cNvPr id="43" name="Shape 41"/>
          <p:cNvSpPr/>
          <p:nvPr/>
        </p:nvSpPr>
        <p:spPr>
          <a:xfrm>
            <a:off x="8229600" y="434340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07A00"/>
          </a:solidFill>
          <a:ln w="12700">
            <a:solidFill>
              <a:srgbClr val="E07A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0" y="4389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8915400" y="4389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&amp; Skilling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8915400" y="4892040"/>
            <a:ext cx="36576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7" name="Text 45"/>
          <p:cNvSpPr/>
          <p:nvPr/>
        </p:nvSpPr>
        <p:spPr>
          <a:xfrm>
            <a:off x="8229600" y="50292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Skill India / NSDC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Govt-recognised certificates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Training center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Online courses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B1F4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9C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SERVICES (continued)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Service.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09728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3657600" cy="73152"/>
          </a:xfrm>
          <a:prstGeom prst="rect">
            <a:avLst/>
          </a:prstGeom>
          <a:solidFill>
            <a:srgbClr val="D6336C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830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Services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25880" y="2331720"/>
            <a:ext cx="36576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6888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Life insurance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Vehicle insurance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Health insurance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policy issuance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51960" y="155448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1554480"/>
            <a:ext cx="3657600" cy="73152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15" name="Shape 13"/>
          <p:cNvSpPr/>
          <p:nvPr/>
        </p:nvSpPr>
        <p:spPr>
          <a:xfrm>
            <a:off x="4434840" y="17830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12064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Bookings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120640" y="2331720"/>
            <a:ext cx="36576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9" name="Text 17"/>
          <p:cNvSpPr/>
          <p:nvPr/>
        </p:nvSpPr>
        <p:spPr>
          <a:xfrm>
            <a:off x="4434840" y="246888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Flight booking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 (IRCTC) booking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Bus booking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Hotel reservations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155448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0" y="1554480"/>
            <a:ext cx="3657600" cy="73152"/>
          </a:xfrm>
          <a:prstGeom prst="rect">
            <a:avLst/>
          </a:prstGeom>
          <a:solidFill>
            <a:srgbClr val="0B1F4D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0" y="17830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91540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Tools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915400" y="2331720"/>
            <a:ext cx="36576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246888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Wallet, Distributor, Retailer panels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dashboard &amp; roles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Commission tracking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Reports &amp;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B1F4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9C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CHOOSE 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Trust. Designed for Growth.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09728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5577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83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Software, Many Incomes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1031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9 service lines into one daily revenue stream.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5577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874520"/>
            <a:ext cx="457200" cy="45720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883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9516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High-Commission Services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95160" y="21031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Industry-leading payouts on PAN, AEPS, recharge, loans.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5577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118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2971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Easy-to-Use Dashboard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33375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portal - serve customers in 5 minutes.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2788920"/>
            <a:ext cx="5577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3108960"/>
            <a:ext cx="457200" cy="45720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118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95160" y="2971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/ Distributor Engine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95160" y="33375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commission split, hierarchies, territory mapping.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5577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343400"/>
            <a:ext cx="457200" cy="45720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352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34440" y="4206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Human Support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34440" y="45720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call &amp; ticket support, 24x7 in your language.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4023360"/>
            <a:ext cx="5577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4343400"/>
            <a:ext cx="457200" cy="45720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4352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995160" y="4206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Bank-grade Security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95160" y="45720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wallets, audit logs, atomic transactions.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5257800"/>
            <a:ext cx="5577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5577840"/>
            <a:ext cx="457200" cy="45720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586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234440" y="5440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National Brand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234440" y="58064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company, 7+ years, 2500+ centers.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17920" y="5257800"/>
            <a:ext cx="5577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0" y="5577840"/>
            <a:ext cx="457200" cy="45720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5586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995160" y="5440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Growth Opportunity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995160" y="58064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to District to State Partner career path.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B1F4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9C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DIGITAL BUSINESS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Opportunity &amp; Franchise Path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09728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11247120" cy="2011680"/>
          </a:xfrm>
          <a:prstGeom prst="roundRect">
            <a:avLst>
              <a:gd name="adj" fmla="val 4545"/>
            </a:avLst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73152" cy="20116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91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C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OPPORTUNITY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digital service business with low investment.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daily income through PAN, recharge, bill payments, AEPS, loans, insurance and 40+ other services. Customers walk in for one service and stay for ten - every visit becomes commission.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955280" y="1691640"/>
          <a:ext cx="365760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384048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3840480"/>
            <a:ext cx="2743200" cy="4114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39044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4389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1691640" y="4892040"/>
            <a:ext cx="27432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7" name="Text 14"/>
          <p:cNvSpPr/>
          <p:nvPr/>
        </p:nvSpPr>
        <p:spPr>
          <a:xfrm>
            <a:off x="594360" y="50292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single-center digital store. Daily commission, instant settlement.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337560" y="384048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337560" y="3840480"/>
            <a:ext cx="2743200" cy="4114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0" name="Text 17"/>
          <p:cNvSpPr/>
          <p:nvPr/>
        </p:nvSpPr>
        <p:spPr>
          <a:xfrm>
            <a:off x="3337560" y="39044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429000" y="4389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4572000" y="4892040"/>
            <a:ext cx="27432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3" name="Text 20"/>
          <p:cNvSpPr/>
          <p:nvPr/>
        </p:nvSpPr>
        <p:spPr>
          <a:xfrm>
            <a:off x="3474720" y="50292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and support multiple retailers. Override commissions.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217920" y="384048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17920" y="3840480"/>
            <a:ext cx="2743200" cy="4114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6" name="Text 23"/>
          <p:cNvSpPr/>
          <p:nvPr/>
        </p:nvSpPr>
        <p:spPr>
          <a:xfrm>
            <a:off x="6217920" y="39044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309360" y="4389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Partner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7452360" y="4892040"/>
            <a:ext cx="27432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9" name="Text 26"/>
          <p:cNvSpPr/>
          <p:nvPr/>
        </p:nvSpPr>
        <p:spPr>
          <a:xfrm>
            <a:off x="6355080" y="50292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an entire district. Build a regional network.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9098280" y="384048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098280" y="3840480"/>
            <a:ext cx="2743200" cy="4114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2" name="Text 29"/>
          <p:cNvSpPr/>
          <p:nvPr/>
        </p:nvSpPr>
        <p:spPr>
          <a:xfrm>
            <a:off x="9098280" y="39044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189720" y="4389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Partner</a:t>
            </a:r>
            <a:endParaRPr lang="en-US" sz="1700" dirty="0"/>
          </a:p>
        </p:txBody>
      </p:sp>
      <p:sp>
        <p:nvSpPr>
          <p:cNvPr id="34" name="Shape 31"/>
          <p:cNvSpPr/>
          <p:nvPr/>
        </p:nvSpPr>
        <p:spPr>
          <a:xfrm>
            <a:off x="10332720" y="4892040"/>
            <a:ext cx="27432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5" name="Text 32"/>
          <p:cNvSpPr/>
          <p:nvPr/>
        </p:nvSpPr>
        <p:spPr>
          <a:xfrm>
            <a:off x="9235440" y="50292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franchise. Lead operations for an entire state.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5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4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6400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E9C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WHEN YOU ARE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105156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Today &amp; Start Your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169164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Business Journey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632704" y="2468880"/>
            <a:ext cx="91440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0604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part of India's most trusted digital service network. One software. Every service. Real income - from day one.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3383280"/>
            <a:ext cx="3200400" cy="1463040"/>
          </a:xfrm>
          <a:prstGeom prst="roundRect">
            <a:avLst>
              <a:gd name="adj" fmla="val 9375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520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E9C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8078991386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251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8921479506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26280" y="3383280"/>
            <a:ext cx="3200400" cy="1463040"/>
          </a:xfrm>
          <a:prstGeom prst="roundRect">
            <a:avLst>
              <a:gd name="adj" fmla="val 9375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3520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E9C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628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eisolutionswork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4251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@gmail.com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38160" y="3383280"/>
            <a:ext cx="3200400" cy="1463040"/>
          </a:xfrm>
          <a:prstGeom prst="roundRect">
            <a:avLst>
              <a:gd name="adj" fmla="val 9375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3520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E9C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3816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www.eisolutions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38160" y="4251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.biz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61104" y="5212080"/>
            <a:ext cx="3657600" cy="73152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61104" y="528523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NOW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0" y="608076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www.eisolutions.biz or WhatsApp +91 8921479506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0" y="644652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9C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OFFICE  |  EI SOLUTIONS JANASEVANA KENDRAM (OPC) PVT LTD  |  Kerala, India  |  MCA registered  |  GST  |  MSME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 Solutions - Corporate Brochure</dc:title>
  <dc:subject>PptxGenJS Presentation</dc:subject>
  <dc:creator>PptxGenJS</dc:creator>
  <cp:lastModifiedBy>PptxGenJS</cp:lastModifiedBy>
  <cp:revision>1</cp:revision>
  <dcterms:created xsi:type="dcterms:W3CDTF">2026-04-22T08:53:00Z</dcterms:created>
  <dcterms:modified xsi:type="dcterms:W3CDTF">2026-04-22T08:53:00Z</dcterms:modified>
</cp:coreProperties>
</file>